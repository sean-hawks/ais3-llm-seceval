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845bad18f4bbe" /><Relationship Type="http://schemas.openxmlformats.org/officeDocument/2006/relationships/extended-properties" Target="/docProps/app.xml" Id="R22047f0d1835413a" /><Relationship Type="http://schemas.openxmlformats.org/officeDocument/2006/relationships/officeDocument" Target="/ppt/presentation.xml" Id="R99b16d1ac2b5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6aeb872dd44a59"/>
  </p:sldMasterIdLst>
  <p:notesMasterIdLst>
    <p:notesMasterId xmlns:r="http://schemas.openxmlformats.org/officeDocument/2006/relationships" r:id="Re8144f213c344f17"/>
  </p:notesMasterIdLst>
  <p:sldIdLst>
    <p:sldId xmlns:r="http://schemas.openxmlformats.org/officeDocument/2006/relationships" id="256" r:id="R3ffd9a2333de4a44"/>
    <p:sldId xmlns:r="http://schemas.openxmlformats.org/officeDocument/2006/relationships" id="257" r:id="R18fd3b18048344ae"/>
    <p:sldId xmlns:r="http://schemas.openxmlformats.org/officeDocument/2006/relationships" id="258" r:id="R9ae7fd27b02d4d87"/>
    <p:sldId xmlns:r="http://schemas.openxmlformats.org/officeDocument/2006/relationships" id="259" r:id="R9eb96788a00c46fb"/>
    <p:sldId xmlns:r="http://schemas.openxmlformats.org/officeDocument/2006/relationships" id="260" r:id="R3a472965b01a4bf7"/>
    <p:sldId xmlns:r="http://schemas.openxmlformats.org/officeDocument/2006/relationships" id="261" r:id="R1c64cceb52af4902"/>
    <p:sldId xmlns:r="http://schemas.openxmlformats.org/officeDocument/2006/relationships" id="262" r:id="Rbb6d2e2b364e4644"/>
    <p:sldId xmlns:r="http://schemas.openxmlformats.org/officeDocument/2006/relationships" id="263" r:id="R750aac61bc8347a3"/>
    <p:sldId xmlns:r="http://schemas.openxmlformats.org/officeDocument/2006/relationships" id="264" r:id="R2fc279aae2c544e1"/>
    <p:sldId xmlns:r="http://schemas.openxmlformats.org/officeDocument/2006/relationships" id="265" r:id="R52c733cc682748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9c3b3ffd846b8" /><Relationship Type="http://schemas.openxmlformats.org/officeDocument/2006/relationships/slideMaster" Target="/ppt/slideMasters/slideMaster1.xml" Id="R516aeb872dd44a59" /><Relationship Type="http://schemas.openxmlformats.org/officeDocument/2006/relationships/notesMaster" Target="/ppt/notesMasters/notesMaster1.xml" Id="Re8144f213c344f17" /><Relationship Type="http://schemas.openxmlformats.org/officeDocument/2006/relationships/presProps" Target="/ppt/presProps.xml" Id="Rf74cc8689f67477a" /><Relationship Type="http://schemas.openxmlformats.org/officeDocument/2006/relationships/tableStyles" Target="/ppt/tableStyles.xml" Id="Rdcce46c2179e4ba3" /><Relationship Type="http://schemas.openxmlformats.org/officeDocument/2006/relationships/slide" Target="/ppt/slides/slide1.xml" Id="R3ffd9a2333de4a44" /><Relationship Type="http://schemas.openxmlformats.org/officeDocument/2006/relationships/slide" Target="/ppt/slides/slide2.xml" Id="R18fd3b18048344ae" /><Relationship Type="http://schemas.openxmlformats.org/officeDocument/2006/relationships/slide" Target="/ppt/slides/slide3.xml" Id="R9ae7fd27b02d4d87" /><Relationship Type="http://schemas.openxmlformats.org/officeDocument/2006/relationships/slide" Target="/ppt/slides/slide4.xml" Id="R9eb96788a00c46fb" /><Relationship Type="http://schemas.openxmlformats.org/officeDocument/2006/relationships/slide" Target="/ppt/slides/slide5.xml" Id="R3a472965b01a4bf7" /><Relationship Type="http://schemas.openxmlformats.org/officeDocument/2006/relationships/slide" Target="/ppt/slides/slide6.xml" Id="R1c64cceb52af4902" /><Relationship Type="http://schemas.openxmlformats.org/officeDocument/2006/relationships/slide" Target="/ppt/slides/slide7.xml" Id="Rbb6d2e2b364e4644" /><Relationship Type="http://schemas.openxmlformats.org/officeDocument/2006/relationships/slide" Target="/ppt/slides/slide8.xml" Id="R750aac61bc8347a3" /><Relationship Type="http://schemas.openxmlformats.org/officeDocument/2006/relationships/slide" Target="/ppt/slides/slide9.xml" Id="R2fc279aae2c544e1" /><Relationship Type="http://schemas.openxmlformats.org/officeDocument/2006/relationships/slide" Target="/ppt/slides/slide10.xml" Id="R52c733cc6827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edad6b35cd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74bcabb2474bd8" /><Relationship Type="http://schemas.openxmlformats.org/officeDocument/2006/relationships/notesMaster" Target="/ppt/notesMasters/notesMaster1.xml" Id="Rce893beb2c9b4c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1bd96b838d49e5" /><Relationship Type="http://schemas.openxmlformats.org/officeDocument/2006/relationships/notesMaster" Target="/ppt/notesMasters/notesMaster1.xml" Id="R4f781234318a45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c90a41c8a465d" /><Relationship Type="http://schemas.openxmlformats.org/officeDocument/2006/relationships/notesMaster" Target="/ppt/notesMasters/notesMaster1.xml" Id="R61fbe6f14650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c0211148e94158" /><Relationship Type="http://schemas.openxmlformats.org/officeDocument/2006/relationships/notesMaster" Target="/ppt/notesMasters/notesMaster1.xml" Id="R05cca4254c5847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5c610c56954d71" /><Relationship Type="http://schemas.openxmlformats.org/officeDocument/2006/relationships/notesMaster" Target="/ppt/notesMasters/notesMaster1.xml" Id="R3b51ad232efb44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8307a055f840e7" /><Relationship Type="http://schemas.openxmlformats.org/officeDocument/2006/relationships/notesMaster" Target="/ppt/notesMasters/notesMaster1.xml" Id="Rbae9f26a4f9149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68df9819a34775" /><Relationship Type="http://schemas.openxmlformats.org/officeDocument/2006/relationships/notesMaster" Target="/ppt/notesMasters/notesMaster1.xml" Id="Rd261ffb2b90948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be7b2fdd074472" /><Relationship Type="http://schemas.openxmlformats.org/officeDocument/2006/relationships/notesMaster" Target="/ppt/notesMasters/notesMaster1.xml" Id="R5929cf2f2f424d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efb54dd9c64d74" /><Relationship Type="http://schemas.openxmlformats.org/officeDocument/2006/relationships/notesMaster" Target="/ppt/notesMasters/notesMaster1.xml" Id="Rafb28fca59894d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60599e0d394400" /><Relationship Type="http://schemas.openxmlformats.org/officeDocument/2006/relationships/notesMaster" Target="/ppt/notesMasters/notesMaster1.xml" Id="Rd0b43d0b73d144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我這段講兩件事：環境跟題目是怎麼準備的，</a:t>
            </a:r>
          </a:p>
          <a:p xmlns:a="http://schemas.openxmlformats.org/drawingml/2006/main">
            <a:r>
              <a:t>以及準備好之後，我們撞到的兩個牆。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先看整條鏈路怎麼串的。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模型會被放進一個完全斷網的 Docker 容器裡，</a:t>
            </a:r>
          </a:p>
          <a:p xmlns:a="http://schemas.openxmlformats.org/drawingml/2006/main">
            <a:r>
              <a:t>用 bash 和 python 自己去探索題目、自己寫 exploit、自己把 flag 交出來。</a:t>
            </a:r>
          </a:p>
          <a:p xmlns:a="http://schemas.openxmlformats.org/drawingml/2006/main">
            <a:r>
              <a:t>它不是在回答問題，是真的在解題。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左邊三塊是我們自己控制的，右邊兩塊是官方給的。</a:t>
            </a:r>
          </a:p>
          <a:p xmlns:a="http://schemas.openxmlformats.org/drawingml/2006/main">
            <a:r>
              <a:t>版本我們全部釘死，包含題庫上游的 commit，這樣結果才可重現。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但這張圖真正的重點在最下面那一行：</a:t>
            </a:r>
          </a:p>
          <a:p xmlns:a="http://schemas.openxmlformats.org/drawingml/2006/main">
            <a:r>
              <a:t>我們最後量到的分數，不只是模型能力。</a:t>
            </a:r>
          </a:p>
          <a:p xmlns:a="http://schemas.openxmlformats.org/drawingml/2006/main">
            <a:r>
              <a:t>它同時包含了環境給不給得起、以及預算夠不夠。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先一句話說明 Inspect 是什麼。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它是英國 AI 安全研究所開源的評測框架，</a:t>
            </a:r>
          </a:p>
          <a:p xmlns:a="http://schemas.openxmlformats.org/drawingml/2006/main">
            <a:r>
              <a:t>把一次評測拆成三塊：題目、模型怎麼解、以及怎麼算對錯。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這三塊可以各自抽換，這件事等一下會變得很重要，</a:t>
            </a:r>
          </a:p>
          <a:p xmlns:a="http://schemas.openxmlformats.org/drawingml/2006/main">
            <a:r>
              <a:t>因為我們兩塊都動了。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選它不是因為它紅，是需求推出來的。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資安題不是問答題，模型必須真的去跑指令、看輸出、再決定下一步，</a:t>
            </a:r>
          </a:p>
          <a:p xmlns:a="http://schemas.openxmlformats.org/drawingml/2006/main">
            <a:r>
              <a:t>所以框架一定要支援 agentic 迴圈跟容器沙箱。這兩項就篩掉大部分選項了。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但我想把中間那一列特別拉出來：逐步軌跡可追。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我等一下要講的兩個雷，都是靠翻軌跡才抓到的，沒有一個是看分數看出來的。</a:t>
            </a:r>
          </a:p>
          <a:p xmlns:a="http://schemas.openxmlformats.org/drawingml/2006/main">
            <a:r>
              <a:t>如果少了那個功能，這兩件事我們會全部寫成「模型能力比較差」。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題目的部分。我們的核心問題是：</a:t>
            </a:r>
          </a:p>
          <a:p xmlns:a="http://schemas.openxmlformats.org/drawingml/2006/main">
            <a:r>
              <a:t>模型在資安題上考高分，到底是真的會，還是看過答案。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所以題目刻意切成三組。</a:t>
            </a:r>
          </a:p>
          <a:p xmlns:a="http://schemas.openxmlformats.org/drawingml/2006/main">
            <a:r>
              <a:t>第一組是 2022、23 年的舊題，網路上 writeup 一堆，幾乎確定在訓練資料裡，</a:t>
            </a:r>
          </a:p>
          <a:p xmlns:a="http://schemas.openxmlformats.org/drawingml/2006/main">
            <a:r>
              <a:t>那組測的是背誦。</a:t>
            </a:r>
          </a:p>
          <a:p xmlns:a="http://schemas.openxmlformats.org/drawingml/2006/main">
            <a:r>
              <a:t>第二組是 2026 年的真實比賽題目，在模型訓練截止之後才出現，那組才是真能力。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同一個模型在這兩組之間的落差，就是我們要觀察的污染／新穎度訊號。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而題目從哪裡來，直接決定了我們會踩到什麼雷。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- /Users/hawks/Documents/AIS3/ais3-llm-seceval/ctf/bench27/README.md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接下來是這個專題花掉我們最多時間的部分。</a:t>
            </a:r>
          </a:p>
          <a:p xmlns:a="http://schemas.openxmlformats.org/drawingml/2006/main">
            <a:r>
              <a:t>我挑兩個最有代表性的講。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第一個雷。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我們跑 forensics 題，模型一直解不出來。第一反應當然是「它 forensics 比較弱」。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去翻軌跡才發現：模型知道要用 strings 這個指令，但容器裡根本沒裝。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我們把工具補進去，同一個模型、同一批題目，分數直接從三比五變成四比五。</a:t>
            </a:r>
          </a:p>
          <a:p xmlns:a="http://schemas.openxmlformats.org/drawingml/2006/main">
            <a:r>
              <a:t>模型完全沒有變。變的是環境。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下面那兩行是同一個道理的另一面，是組態。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第一個旗標最危險。不設的話 gateway 會回四百錯誤，整題被記成 error，</a:t>
            </a:r>
          </a:p>
          <a:p xmlns:a="http://schemas.openxmlformats.org/drawingml/2006/main">
            <a:r>
              <a:t>而 error 在結果表上看起來，就跟「這題很難、模型解不動」完全一樣。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第二個也是。我們一開始把訊息上限設三十，結果 8B 模型六題有五題撞到上限被砍掉。</a:t>
            </a:r>
          </a:p>
          <a:p xmlns:a="http://schemas.openxmlformats.org/drawingml/2006/main">
            <a:r>
              <a:t>那量到的根本不是能力，是預算。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所以我們定了一條規矩：組態必須固定，而且必須寫進報告。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第二個雷，是我們自己覺得最有價值的一個發現。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起因很小：隊友發現匯出的解題過程裡，有幾格是完全空白的。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追下去，全部八百一十格裡面，「沒有報錯、但是零則模型訊息」的剛好四格。</a:t>
            </a:r>
          </a:p>
          <a:p xmlns:a="http://schemas.openxmlformats.org/drawingml/2006/main">
            <a:r>
              <a:t>再往裡面翻，才看到錯誤欄寫著 504，gateway 逾時。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但真正有意思的是分佈。你看左邊：</a:t>
            </a:r>
          </a:p>
          <a:p xmlns:a="http://schemas.openxmlformats.org/drawingml/2006/main">
            <a:r>
              <a:t>504 幾乎只砸在 gemma 這兩個模型上，一個 22 次、一個 11 次，</a:t>
            </a:r>
          </a:p>
          <a:p xmlns:a="http://schemas.openxmlformats.org/drawingml/2006/main">
            <a:r>
              <a:t>其他四個加起來才六次，而且有兩個是掛零。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原因在右邊：gemma 一次生成又長又慢，一次呼叫可以講到一萬四千個 token、將近三百秒，</a:t>
            </a:r>
          </a:p>
          <a:p xmlns:a="http://schemas.openxmlformats.org/drawingml/2006/main">
            <a:r>
              <a:t>剛好撞上 gateway 的請求逾時上限，然後重試也逾時，最後被時間上限砍掉。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所以結論是：這不是能力差異，這是基礎設施的偏誤。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不翻 log 只看分數，你會把「它連話都還沒說出口」，讀成「它能力比較弱」。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- /Users/hawks/Documents/AIS3/ais3-llm-seceval/ctf/bench27/bench27_runs.json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講者提示｜約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我這段的結論就一句話。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我們量到的分數，同時被能力、環境、預算三件事決定。</a:t>
            </a:r>
          </a:p>
          <a:p xmlns:a="http://schemas.openxmlformats.org/drawingml/2006/main">
            <a:r>
              <a:t>後面那兩個如果不主動把它隔離出來，就會整包被讀成能力。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剛剛那兩個雷都是同一件事：</a:t>
            </a:r>
          </a:p>
          <a:p xmlns:a="http://schemas.openxmlformats.org/drawingml/2006/main">
            <a:r>
              <a:t>一個樣本沒解出來，到底是它不會，還是我們沒讓它有機會。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那要怎麼判、怎麼用詞向量去比對模型的推理過程，</a:t>
            </a:r>
          </a:p>
          <a:p xmlns:a="http://schemas.openxmlformats.org/drawingml/2006/main">
            <a:r>
              <a:t>接下來交給下一位組員。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備註：定稿前可把「下一位組員」換成實際姓名。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備用頁，不計入 4 分 20 秒主講時間。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arm64 是最適合補充的自我修正案例：</a:t>
            </a:r>
          </a:p>
          <a:p xmlns:a="http://schemas.openxmlformats.org/drawingml/2006/main">
            <a:r>
              <a:t>tic-tac-no 與 scrabasm 確實是 nsjail / qemu 的環境問題；</a:t>
            </a:r>
          </a:p>
          <a:p xmlns:a="http://schemas.openxmlformats.org/drawingml/2006/main">
            <a:r>
              <a:t>network_tools 與 delulu 的 victim 原本就通，是模型完成互動後仍答錯。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若被問成本：</a:t>
            </a:r>
          </a:p>
          <a:p xmlns:a="http://schemas.openxmlformats.org/drawingml/2006/main">
            <a:r>
              <a:t>全批約 175.1M token，output 只占 4.4%；</a:t>
            </a:r>
          </a:p>
          <a:p xmlns:a="http://schemas.openxmlformats.org/drawingml/2006/main">
            <a:r>
              <a:t>agentic 迴圈會反覆重送歷史，因此節省成本的槓桿在截斷工具輸出。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/Users/hawks/.codex/attachments/3cff274f-362e-4882-af70-5f888d7a6bbc/pasted-text.txt</a:t>
            </a:r>
          </a:p>
          <a:p xmlns:a="http://schemas.openxmlformats.org/drawingml/2006/main">
            <a:r>
              <a:t>- /Users/hawks/Documents/AIS3/ais3-llm-seceval/docs/REPORT_前置作業.md</a:t>
            </a:r>
          </a:p>
          <a:p xmlns:a="http://schemas.openxmlformats.org/drawingml/2006/main">
            <a:r>
              <a:t>- /Users/hawks/Documents/AIS3/ais3-llm-seceval/ctf/bench27/bench27_runs.json</a:t>
            </a:r>
          </a:p>
          <a:p xmlns:a="http://schemas.openxmlformats.org/drawingml/2006/main">
            <a:r>
              <a:t>- /Users/hawks/Documents/AIS3/ais3-llm-seceval/ctf/bench27/README.md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5b5b279724d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c136eb1dee4c39" /><Relationship Type="http://schemas.openxmlformats.org/officeDocument/2006/relationships/slideLayout" Target="/ppt/slideLayouts/slideLayout1.xml" Id="Rc6c1f49cb76d4c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c1f49cb76d4c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10b2395e94d35" /><Relationship Type="http://schemas.openxmlformats.org/officeDocument/2006/relationships/notesSlide" Target="/ppt/notesSlides/notesSlide1.xml" Id="R0d28ff6fde0c4f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0eb5ed8384ea2" /><Relationship Type="http://schemas.openxmlformats.org/officeDocument/2006/relationships/notesSlide" Target="/ppt/notesSlides/notesSlide2.xml" Id="R1da22353a8e44a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3b29894704375" /><Relationship Type="http://schemas.openxmlformats.org/officeDocument/2006/relationships/notesSlide" Target="/ppt/notesSlides/notesSlide3.xml" Id="R68997c9f03584d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b77488bd34a59" /><Relationship Type="http://schemas.openxmlformats.org/officeDocument/2006/relationships/notesSlide" Target="/ppt/notesSlides/notesSlide4.xml" Id="R7baf27e6e6aa4a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9ece28ea8431d" /><Relationship Type="http://schemas.openxmlformats.org/officeDocument/2006/relationships/notesSlide" Target="/ppt/notesSlides/notesSlide5.xml" Id="Rc180e78b35f94a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34b82597441aa" /><Relationship Type="http://schemas.openxmlformats.org/officeDocument/2006/relationships/notesSlide" Target="/ppt/notesSlides/notesSlide6.xml" Id="R7d6b6aabdeff45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3b6699bd84e18" /><Relationship Type="http://schemas.openxmlformats.org/officeDocument/2006/relationships/notesSlide" Target="/ppt/notesSlides/notesSlide7.xml" Id="Rbf2a91e6c5a444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ead52177447c5" /><Relationship Type="http://schemas.openxmlformats.org/officeDocument/2006/relationships/chart" Target="/ppt/slides/charts/chart1.xml" Id="R1e47d6b415134a63" /><Relationship Type="http://schemas.openxmlformats.org/officeDocument/2006/relationships/notesSlide" Target="/ppt/notesSlides/notesSlide8.xml" Id="R81724e1ea47946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7a2f4639749f1" /><Relationship Type="http://schemas.openxmlformats.org/officeDocument/2006/relationships/notesSlide" Target="/ppt/notesSlides/notesSlide9.xml" Id="R315ba7e8fb9244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197f888144f57" /><Relationship Type="http://schemas.openxmlformats.org/officeDocument/2006/relationships/notesSlide" Target="/ppt/notesSlides/notesSlide10.xml" Id="R3f3f64a2b2754c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504 次數</c:v>
          </c:tx>
          <c:spPr>
            <a:solidFill xmlns:a="http://schemas.openxmlformats.org/drawingml/2006/main">
              <a:srgbClr val="3B5EA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03B3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03B3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888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BA7B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AD1DB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AD1DB"/>
              </a:solidFill>
            </c:spPr>
          </c:dPt>
          <c:cat>
            <c:strLit>
              <c:ptCount val="6"/>
              <c:pt idx="0">
                <c:v>gemma-12B</c:v>
              </c:pt>
              <c:pt idx="1">
                <c:v>gemma-26B</c:v>
              </c:pt>
              <c:pt idx="2">
                <c:v>llama-70B</c:v>
              </c:pt>
              <c:pt idx="3">
                <c:v>llama-8B</c:v>
              </c:pt>
              <c:pt idx="4">
                <c:v>nemotron-550B</c:v>
              </c:pt>
              <c:pt idx="5">
                <c:v>nemotron-30B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11</c:v>
              </c:pt>
              <c:pt idx="2">
                <c:v>5</c:v>
              </c:pt>
              <c:pt idx="3">
                <c:v>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028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8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CFE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BFCFE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90E77-A496-496F-9BC3-0B6B1167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C0F3B-3B56-43B7-B755-6E9F2E7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F6410-2CE1-481C-BB94-CE7C58B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BDDAE-08F8-47A2-8B67-013FF2E6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D88FC-AEAF-4988-9C8E-DE1F491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E1869-8AC6-4DDE-AFE3-E1920639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2B1A3-C37D-4816-9B52-20D98305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5EA0"/>
                </a:solidFill>
              </a:defRPr>
            </a:pPr>
            <a:r>
              <a:rPr sz="1050" b="1">
                <a:solidFill>
                  <a:srgbClr val="3B5EA0"/>
                </a:solidFill>
              </a:rPr>
              <a:t>AIS3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118060-A6FB-4659-A7AF-F4063A9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6286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02833"/>
                </a:solidFill>
              </a:defRPr>
            </a:pPr>
            <a:r>
              <a:rPr sz="4350" b="1">
                <a:solidFill>
                  <a:srgbClr val="202833"/>
                </a:solidFill>
              </a:rPr>
              <a:t>環境設置與</a:t>
            </a:r>
          </a:p>
          <a:p xmlns:a="http://schemas.openxmlformats.org/drawingml/2006/main">
            <a:pPr algn="l">
              <a:defRPr sz="4350" b="1">
                <a:solidFill>
                  <a:srgbClr val="202833"/>
                </a:solidFill>
              </a:defRPr>
            </a:pPr>
            <a:r>
              <a:rPr sz="4350" b="1">
                <a:solidFill>
                  <a:srgbClr val="202833"/>
                </a:solidFill>
              </a:rPr>
              <a:t>踩雷實錄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864AF-52FE-489E-A8B3-7C420871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10CF4-6196-4E64-8462-DEDC496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5EA0"/>
                </a:solidFill>
              </a:defRPr>
            </a:pPr>
            <a:r>
              <a:rPr sz="2100" b="1">
                <a:solidFill>
                  <a:srgbClr val="3B5EA0"/>
                </a:solidFill>
              </a:rPr>
              <a:t>語言模型資安能力評測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26424-BDFF-4AE5-8B43-A4979C1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我們怎麼把「量到能力」和「量到環境」分開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BE2B6-B097-4D57-AAC6-8EDB192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環境 × 題目 × Try and Error</a:t>
            </a:r>
          </a:p>
        </p:txBody>
      </p:sp>
    </p:spTree>
    <p:extLst>
      <p:ext uri="{BB962C8B-B14F-4D97-AF65-F5344CB8AC3E}">
        <p14:creationId xmlns:p14="http://schemas.microsoft.com/office/powerpoint/2010/main" val="2021273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0EA7CA-8AD8-445F-B3F4-327B5419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C843C-85BB-4703-BB7A-71C3FF9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252CA-A559-481D-83D4-44EAF84A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CFEBABB-C6CF-4395-BC60-71A1036B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評測分數，不只來自模型能力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6F880-1138-4BD4-A2E9-7E1AD96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58C65-2069-4587-984E-9C56CBBC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AB187-FE91-4EE4-974A-64B585A6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18528-BA24-47EB-AE6E-F0BF4F23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E0F3C-A167-4586-83AD-EED0F7A2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2417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D276F-0B03-43A1-A1EB-5846E5F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2417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AAE9C-8ADE-4031-B876-1AE4455E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2417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88ECD-9B90-42A6-B6FF-B60FFF1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2417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0BC40-A4D2-4FB8-98EB-008AA26C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1952625" cy="23050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CB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562BB-8F17-49DA-8149-6E6F4F9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5EA0"/>
                </a:solidFill>
              </a:defRPr>
            </a:pPr>
            <a:r>
              <a:rPr sz="1050" b="1">
                <a:solidFill>
                  <a:srgbClr val="3B5EA0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CEC86-3D5A-43E8-8C59-75C8B33D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本機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09BB8-11D6-4BB8-A589-3EBC939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57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macOS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venv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版本釘選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468F9-B96E-48D2-A788-7A1812CB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62150"/>
            <a:ext cx="1952625" cy="23050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CB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2BF98-3E02-4DFC-A378-11B09BF5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5EA0"/>
                </a:solidFill>
              </a:defRPr>
            </a:pPr>
            <a:r>
              <a:rPr sz="1050" b="1">
                <a:solidFill>
                  <a:srgbClr val="3B5EA0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205EA-CB94-4E69-9909-0A22A570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Inspect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666F8-19DA-4694-97DB-1D3731B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95625"/>
            <a:ext cx="157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harness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agentic 迴圈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bash / python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B57B3-59F4-45BB-892E-2DA3598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62150"/>
            <a:ext cx="1952625" cy="23050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CB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7B817-57C5-4BE5-AD0B-A38C732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5EA0"/>
                </a:solidFill>
              </a:defRPr>
            </a:pPr>
            <a:r>
              <a:rPr sz="1050" b="1">
                <a:solidFill>
                  <a:srgbClr val="3B5EA0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2246E-9359-438E-97E6-0433638C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Docker 沙箱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8A331-A399-4D3C-B102-772E19D1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57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斷網容器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/challenge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可拋棄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FF121-3F11-4038-983B-644078A6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1952625" cy="23050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38052-FF8B-437D-AAEA-08997C7A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73930-3EE8-4F18-8A18-6D2D3B8B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146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AIS3 gateway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B63482-6101-43B5-9AEA-29FC12E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95625"/>
            <a:ext cx="157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OpenAI 相容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單一入口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共享吞吐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28846E-31C5-4B3E-A73B-F15DBF37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62150"/>
            <a:ext cx="1952625" cy="23050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AE8A6-4613-4275-8600-F2313C1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33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1D485-104E-48CD-8483-2EB628F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1460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6 個受測模型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1D86D8-CBE0-4ACA-881E-B00421B9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95625"/>
            <a:ext cx="157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8B → 550B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scaling 階梯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D040A4-2798-4DCF-9AA8-06F549AB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481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5EA0"/>
                </a:solidFill>
              </a:defRPr>
            </a:pPr>
            <a:r>
              <a:rPr sz="1125" b="1">
                <a:solidFill>
                  <a:srgbClr val="3B5EA0"/>
                </a:solidFill>
              </a:rPr>
              <a:t>我們控制的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D7CC2B-F0E1-4739-B248-DAC5064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9105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E882F6-34EC-4CCB-ADB8-1DDB7CB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9105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13AC2C-D21A-4DD2-A1B7-AB6EBC2C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481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官方給的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39C12E-78B3-482B-8B19-28215583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版本釘選：inspect_ai 0.3.249 · inspect_evals 0.16.0 · 上游題庫 commit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FFC81A-F553-496B-80A5-01B6106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53075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5EA0"/>
                </a:solidFill>
              </a:defRPr>
            </a:pPr>
            <a:r>
              <a:rPr sz="2250" b="1">
                <a:solidFill>
                  <a:srgbClr val="3B5EA0"/>
                </a:solidFill>
              </a:rPr>
              <a:t>分數 ＝ 能力 ＋ 環境 ＋ 預算 的合成結果</a:t>
            </a:r>
          </a:p>
        </p:txBody>
      </p:sp>
    </p:spTree>
    <p:extLst>
      <p:ext uri="{BB962C8B-B14F-4D97-AF65-F5344CB8AC3E}">
        <p14:creationId xmlns:p14="http://schemas.microsoft.com/office/powerpoint/2010/main" val="124564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7E0612-7E51-4D09-B6B7-B01DC66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7AF67-5038-4D27-A15E-0F37F24A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375EC-8216-4963-9EBF-4FFB0C9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87B7BAA-4762-410C-BA35-CDF921C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Inspect AI 把一次評測拆成三個可替換元件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2AA83-6EF5-4009-AFEC-33D5D532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930EB-EB43-4855-ADE9-5FEE42E0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FB724-83E2-4145-BC2B-8FE0667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AAE4B-1381-4D83-8E55-6FF8E6B2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D4B2B-5E07-4058-93F1-41D0A40E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811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3F70"/>
                </a:solidFill>
              </a:defRPr>
            </a:pPr>
            <a:r>
              <a:rPr sz="2250" b="1">
                <a:solidFill>
                  <a:srgbClr val="263F70"/>
                </a:solidFill>
              </a:rPr>
              <a:t>英國 AI 安全研究所（UK AISI）開源的 LLM 評測框架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23BA9-5446-489A-BA83-F3F479D2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764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56DDE-DB67-4F60-BE0D-9DDE6984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2667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C9FFD-F1EE-40E6-B478-A201C3A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3B5E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BAE6F-6FF4-4B44-98C2-C6C6A33C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051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5EA0"/>
                </a:solidFill>
              </a:defRPr>
            </a:pPr>
            <a:r>
              <a:rPr sz="2175" b="1">
                <a:solidFill>
                  <a:srgbClr val="3B5EA0"/>
                </a:solidFill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34B51-D197-4073-B6EE-DB0A8561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5EA0"/>
                </a:solidFill>
              </a:defRPr>
            </a:pPr>
            <a:r>
              <a:rPr sz="1575" b="1">
                <a:solidFill>
                  <a:srgbClr val="3B5EA0"/>
                </a:solidFill>
              </a:rPr>
              <a:t>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3FEDF-2D68-4893-9892-A9D6C7C9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題目資料集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0AD75-C658-4DFB-A2E2-FE39FF1D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2667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1EE0A-C4A8-4A86-A9F7-8A197F90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81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19050">
            <a:solidFill>
              <a:srgbClr val="5264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99DA5-A03B-4E17-860A-42F5B44B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051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52647B"/>
                </a:solidFill>
              </a:defRPr>
            </a:pPr>
            <a:r>
              <a:rPr sz="2175" b="1">
                <a:solidFill>
                  <a:srgbClr val="52647B"/>
                </a:solidFill>
              </a:rPr>
              <a:t>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D0984-FDA3-425A-BE4C-266165DC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47B"/>
                </a:solidFill>
              </a:defRPr>
            </a:pPr>
            <a:r>
              <a:rPr sz="1575" b="1">
                <a:solidFill>
                  <a:srgbClr val="52647B"/>
                </a:solidFill>
              </a:rPr>
              <a:t>SOLVER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CCCF0-A912-4D89-B2DA-613E722E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95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模型怎麼解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agentic 迴圈 + 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D43A2-41FE-43D8-96B1-EC61C8D4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33650"/>
            <a:ext cx="2667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71AA7-624A-4F8A-8CC5-B72D3C75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AEA"/>
          </a:solidFill>
          <a:ln xmlns:a="http://schemas.openxmlformats.org/drawingml/2006/main" w="19050">
            <a:solidFill>
              <a:srgbClr val="A03B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039B4-8F30-4116-89E9-55DE116D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03B3B"/>
                </a:solidFill>
              </a:defRPr>
            </a:pPr>
            <a:r>
              <a:rPr sz="2175" b="1">
                <a:solidFill>
                  <a:srgbClr val="A03B3B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66BBC-A848-459B-B8D6-22148E2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03B3B"/>
                </a:solidFill>
              </a:defRPr>
            </a:pPr>
            <a:r>
              <a:rPr sz="1575" b="1">
                <a:solidFill>
                  <a:srgbClr val="A03B3B"/>
                </a:solidFill>
              </a:rPr>
              <a:t>SCORER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622FC-591B-4345-BCD3-02D16BA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95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怎麼算對錯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224A8-8ACE-400F-8AC8-D0BE8D35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01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02833"/>
                </a:solidFill>
              </a:defRPr>
            </a:pPr>
            <a:r>
              <a:rPr sz="1800" b="1">
                <a:solidFill>
                  <a:srgbClr val="202833"/>
                </a:solidFill>
              </a:rPr>
              <a:t>三者可各自替換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0AB47-681C-4F5A-A8FC-62AAAF27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768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B538F-265F-44AA-B421-798DCFFE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01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5EA0"/>
                </a:solidFill>
              </a:defRPr>
            </a:pPr>
            <a:r>
              <a:rPr sz="1650" b="1">
                <a:solidFill>
                  <a:srgbClr val="3B5EA0"/>
                </a:solidFill>
              </a:rPr>
              <a:t>我們換掉了 Scorer，也調整了 Solver 行為</a:t>
            </a:r>
          </a:p>
        </p:txBody>
      </p:sp>
    </p:spTree>
    <p:extLst>
      <p:ext uri="{BB962C8B-B14F-4D97-AF65-F5344CB8AC3E}">
        <p14:creationId xmlns:p14="http://schemas.microsoft.com/office/powerpoint/2010/main" val="555612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F5072-AF41-4CEA-81BA-FF508B0E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037FA-F906-4493-ADF4-43D17C53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C5843-F6E1-44D1-9BD5-718D446F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6BEA714-13FD-4402-B2A5-88C35CE9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真正關鍵的能力：每一步都能追查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051CF-414A-48AE-AD24-4B01BBD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8F29D-A076-40C9-9DEA-65C1B19A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AEEB7-A9D2-477B-A924-2DA9795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F82DB-8C75-439E-8B6F-92C46DB9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74B9A-5229-4BBD-803C-59CB3F87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811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085"/>
                </a:solidFill>
              </a:defRPr>
            </a:pPr>
            <a:r>
              <a:rPr sz="1650" b="1">
                <a:solidFill>
                  <a:srgbClr val="667085"/>
                </a:solidFill>
              </a:rPr>
              <a:t>我們需要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6955C-A846-4721-B639-3AD3F2DE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085"/>
                </a:solidFill>
              </a:defRPr>
            </a:pPr>
            <a:r>
              <a:rPr sz="1650" b="1">
                <a:solidFill>
                  <a:srgbClr val="667085"/>
                </a:solidFill>
              </a:rPr>
              <a:t>Inspect AI 提供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5B003-04CC-42AA-9164-9B39CFC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81175"/>
            <a:ext cx="922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5EF94-791A-43B9-A232-DD818081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431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Agentic 多輪 + 工具呼叫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2F37A-A725-4202-A3D8-ED02E4DE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basic_agent + bash() / python()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36428-1D75-423B-80E2-5AA1715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90775"/>
            <a:ext cx="93821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11176-74F3-469B-8E30-02E0E17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容器沙箱（倫理：斷網）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922DB-D9C7-4A5F-B4A0-050763A7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原生 Docker sandbox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E0063-0FBC-4E7B-9D0B-79F336A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382125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0E214-430B-41B9-83BF-4E962A0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718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5EA0"/>
                </a:solidFill>
              </a:defRPr>
            </a:pPr>
            <a:r>
              <a:rPr sz="1500" b="1">
                <a:solidFill>
                  <a:srgbClr val="3B5EA0"/>
                </a:solidFill>
              </a:rPr>
              <a:t>逐步軌跡可追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493C0-D960-4AFB-A42C-465886C9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5EA0"/>
                </a:solidFill>
              </a:defRPr>
            </a:pPr>
            <a:r>
              <a:rPr sz="1500" b="1">
                <a:solidFill>
                  <a:srgbClr val="3B5EA0"/>
                </a:solidFill>
              </a:rPr>
              <a:t>inspect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C475A-D3C4-42C4-93F7-60A8F0B5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93821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894AF-0837-4EF6-A6B0-054583B9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861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多次跑 + 統計量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BA187-4752-47FD-A8D0-769C989C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--epochs + stderr()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CEA84-BB00-45EE-AAD1-3778C769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005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自訂評分器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A4466-B0B3-4464-8B31-19D9433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@scorer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BE04F-9C54-4242-AA92-AA83FCF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48175"/>
            <a:ext cx="93821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9853C-B474-428E-ABC3-A465925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自架 gateway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00A85-6C43-4C3E-804A-B5D8080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openai-api/ provider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D5C28-4893-43A0-B722-A3F88DF0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292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職業級題庫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1E69C-61CE-4075-AEDE-34B8C18C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292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33"/>
                </a:solidFill>
              </a:defRPr>
            </a:pPr>
            <a:r>
              <a:rPr sz="1350" b="0">
                <a:solidFill>
                  <a:srgbClr val="202833"/>
                </a:solidFill>
              </a:rPr>
              <a:t>inspect_evals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C5102-1E55-489C-B12E-95E6186C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669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659512-CCEC-497C-B5B6-A79DFBB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5EA0"/>
                </a:solidFill>
              </a:defRPr>
            </a:pPr>
            <a:r>
              <a:rPr sz="1875" b="1">
                <a:solidFill>
                  <a:srgbClr val="3B5EA0"/>
                </a:solidFill>
              </a:rPr>
              <a:t>唯一同時滿足「agentic ＋ 沙箱 ＋ 軌跡可追」的成熟框架</a:t>
            </a:r>
          </a:p>
        </p:txBody>
      </p:sp>
    </p:spTree>
    <p:extLst>
      <p:ext uri="{BB962C8B-B14F-4D97-AF65-F5344CB8AC3E}">
        <p14:creationId xmlns:p14="http://schemas.microsoft.com/office/powerpoint/2010/main" val="19447212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F083BB-0390-4617-9BAA-C226B890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9FACD-AB4D-4DA0-B89F-6E2B18E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C7260-E9B3-420D-B58C-24660A2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7EAA33B-D7BD-4BA0-986D-64921CA3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Bench27：用三分區拆開背誦與能力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2B283-412A-4ED9-B55A-76566F19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370E7-B9D5-46F1-9158-56851597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00ABC-8718-452D-9A24-F3C1506D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B7840-2FAC-48D2-BB5B-051E21EC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49461-4A11-4C78-A17D-A1FDDC4E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857500" cy="3219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B27A7-F355-430F-B763-246E0F03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7335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C6777"/>
                </a:solidFill>
              </a:defRPr>
            </a:pPr>
            <a:r>
              <a:rPr sz="1125" b="1">
                <a:solidFill>
                  <a:srgbClr val="5C6777"/>
                </a:solidFill>
              </a:rPr>
              <a:t>CONTAMINATED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6F83D-6E01-441B-B955-8BF40D01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114550"/>
            <a:ext cx="110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C6777"/>
                </a:solidFill>
              </a:defRPr>
            </a:pPr>
            <a:r>
              <a:rPr sz="4200" b="1">
                <a:solidFill>
                  <a:srgbClr val="5C6777"/>
                </a:solidFill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C000D-8430-4B53-8F09-5989B420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431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777"/>
                </a:solidFill>
              </a:defRPr>
            </a:pPr>
            <a:r>
              <a:rPr sz="1275" b="1">
                <a:solidFill>
                  <a:srgbClr val="5C6777"/>
                </a:solidFill>
              </a:rPr>
              <a:t>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92D5C-284C-450D-BB7D-4B8981C5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57525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8FC89-3ED7-4013-A802-94EE6456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76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2022–23</a:t>
            </a:r>
          </a:p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picoCTF · cybench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306DD-2B06-4067-8BDE-DABFE66F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243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公開解答幾乎必進訓練資料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9A8D9-1B46-4C22-92CB-68523954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29125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6777"/>
                </a:solidFill>
              </a:defRPr>
            </a:pPr>
            <a:r>
              <a:rPr sz="1500" b="1">
                <a:solidFill>
                  <a:srgbClr val="5C6777"/>
                </a:solidFill>
              </a:rPr>
              <a:t>→ 測背誦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116F7-637C-483D-B6ED-708E625C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2857500" cy="3219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899D2-B08B-41AE-9FDF-A9C0D41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335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5EA0"/>
                </a:solidFill>
              </a:defRPr>
            </a:pPr>
            <a:r>
              <a:rPr sz="1125" b="1">
                <a:solidFill>
                  <a:srgbClr val="3B5EA0"/>
                </a:solidFill>
              </a:rPr>
              <a:t>RECENT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19AFF-650C-4B15-B152-A78B01C5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14550"/>
            <a:ext cx="110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3B5EA0"/>
                </a:solidFill>
              </a:defRPr>
            </a:pPr>
            <a:r>
              <a:rPr sz="4200" b="1">
                <a:solidFill>
                  <a:srgbClr val="3B5EA0"/>
                </a:solidFill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BA9A5-E613-4DA4-9150-F3292A5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31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5EA0"/>
                </a:solidFill>
              </a:defRPr>
            </a:pPr>
            <a:r>
              <a:rPr sz="1275" b="1">
                <a:solidFill>
                  <a:srgbClr val="3B5EA0"/>
                </a:solidFill>
              </a:rPr>
              <a:t>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2E8DF-CBAA-4B7B-BE4F-9F20F159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57525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CB352-B42B-460B-B040-6217E452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2026 真實賽事</a:t>
            </a:r>
          </a:p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LACTF · BYUCTF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14EC1-339D-4639-AFE6-671A1467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243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模型訓練截止之後才出現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5E4DC-8288-4BC7-AF34-98414BCF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29125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5EA0"/>
                </a:solidFill>
              </a:defRPr>
            </a:pPr>
            <a:r>
              <a:rPr sz="1500" b="1">
                <a:solidFill>
                  <a:srgbClr val="3B5EA0"/>
                </a:solidFill>
              </a:rPr>
              <a:t>→ 測真能力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AA6FC-1468-4B81-963E-B0788003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524000"/>
            <a:ext cx="2857500" cy="3219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EE527-BD1C-400D-AF21-75F00368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335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03B3B"/>
                </a:solidFill>
              </a:defRPr>
            </a:pPr>
            <a:r>
              <a:rPr sz="1125" b="1">
                <a:solidFill>
                  <a:srgbClr val="A03B3B"/>
                </a:solidFill>
              </a:rPr>
              <a:t>DEEP HARD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CF479-AF31-4828-AD2B-709B9A69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14550"/>
            <a:ext cx="110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A03B3B"/>
                </a:solidFill>
              </a:defRPr>
            </a:pPr>
            <a:r>
              <a:rPr sz="4200" b="1">
                <a:solidFill>
                  <a:srgbClr val="A03B3B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BCC6F-E2E6-412C-8361-FD79DBFE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431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03B3B"/>
                </a:solidFill>
              </a:defRPr>
            </a:pPr>
            <a:r>
              <a:rPr sz="1275" b="1">
                <a:solidFill>
                  <a:srgbClr val="A03B3B"/>
                </a:solidFill>
              </a:rPr>
              <a:t>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E938E-1BC9-4582-9791-FA70413E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57525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41CDB-FBFA-434E-B470-A1970051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76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cybench 硬題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FC6A8-971F-41CA-8807-42C68D1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243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多階段、保留解題 headroom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B6B2D3-57E3-4468-9046-FAE359AA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03B3B"/>
                </a:solidFill>
              </a:defRPr>
            </a:pPr>
            <a:r>
              <a:rPr sz="1500" b="1">
                <a:solidFill>
                  <a:srgbClr val="A03B3B"/>
                </a:solidFill>
              </a:rPr>
              <a:t>→ 測能力上緣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D31556-50E3-43FC-B195-C91820F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5EA0"/>
                </a:solidFill>
              </a:defRPr>
            </a:pPr>
            <a:r>
              <a:rPr sz="1950" b="1">
                <a:solidFill>
                  <a:srgbClr val="3B5EA0"/>
                </a:solidFill>
              </a:rPr>
              <a:t>同一模型：contaminated − recent2026 ＝ 污染／新穎度落差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098447-FDF8-4917-BDCC-5F8E440E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86425"/>
            <a:ext cx="819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六大類均衡：crypto · rev · forensics · misc · web · pwn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CF740-448B-4AC8-91BA-AE82692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0483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03B3B"/>
                </a:solidFill>
              </a:defRPr>
            </a:pPr>
            <a:r>
              <a:rPr sz="1350" b="1">
                <a:solidFill>
                  <a:srgbClr val="A03B3B"/>
                </a:solidFill>
              </a:rPr>
              <a:t>題目從哪來，決定我們會踩到什麼雷。</a:t>
            </a:r>
          </a:p>
        </p:txBody>
      </p:sp>
    </p:spTree>
    <p:extLst>
      <p:ext uri="{BB962C8B-B14F-4D97-AF65-F5344CB8AC3E}">
        <p14:creationId xmlns:p14="http://schemas.microsoft.com/office/powerpoint/2010/main" val="2108436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63F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5E6EF-CDBD-42AD-80CD-A87282F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7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67E9C-8A61-4058-AC3F-FB782A24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6EE22-2FE3-4236-9B2D-26662D5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496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60396-B1A6-46BE-AC42-785430DC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D990E-D2D5-416C-978D-3940449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DF1C6-B400-4691-9B6C-8935CABA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28DA6-CB9D-4443-97B5-DA982B58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968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TRY AND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4CBB2-C1CC-40AB-8335-21796F8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38375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環境搭好了，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題目也選好了。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6E0C0-4C1C-4F18-894D-96E7F093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7E380-A522-4EBD-AA45-72BF2422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CEAF7"/>
                </a:solidFill>
              </a:defRPr>
            </a:pPr>
            <a:r>
              <a:rPr sz="2325" b="1">
                <a:solidFill>
                  <a:srgbClr val="DCEAF7"/>
                </a:solidFill>
              </a:rPr>
              <a:t>真正的問題，從跑起來之後才開始。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30E60-F208-4189-A889-1FE5834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95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FD4F1"/>
                </a:solidFill>
              </a:defRPr>
            </a:pPr>
            <a:r>
              <a:rPr sz="1500" b="0">
                <a:solidFill>
                  <a:srgbClr val="BFD4F1"/>
                </a:solidFill>
              </a:rPr>
              <a:t>兩個最有代表性的雷</a:t>
            </a:r>
          </a:p>
        </p:txBody>
      </p:sp>
    </p:spTree>
    <p:extLst>
      <p:ext uri="{BB962C8B-B14F-4D97-AF65-F5344CB8AC3E}">
        <p14:creationId xmlns:p14="http://schemas.microsoft.com/office/powerpoint/2010/main" val="1522855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0680D4-C4C8-4AD8-8F04-41DC095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86B60-009E-40D7-A4B7-57853F7C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2FED-8954-42A1-B574-73A8FF39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F3C45C7F-2A73-49A3-8AE4-5A2C35FC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雷 ①｜分數升了，但模型沒變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98265-28BF-479F-930E-E031DABF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5EE37-7A40-45C6-B3C6-21692845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7B52E-9481-4BED-934B-01C2850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3BB28-FA7A-4C91-871E-D1826C25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37ED1-DF0E-42C6-AB91-362AAF96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5EA0"/>
                </a:solidFill>
              </a:defRPr>
            </a:pPr>
            <a:r>
              <a:rPr sz="1050" b="1">
                <a:solidFill>
                  <a:srgbClr val="3B5EA0"/>
                </a:solidFill>
              </a:rPr>
              <a:t>真實對照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A185E-FA41-4EE7-B099-89C14B41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620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833"/>
                </a:solidFill>
              </a:defRPr>
            </a:pPr>
            <a:r>
              <a:rPr sz="1500" b="1">
                <a:solidFill>
                  <a:srgbClr val="202833"/>
                </a:solidFill>
              </a:rPr>
              <a:t>補工具前後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C96F7-16F7-46BC-9DB7-B1EB6D6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70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315FE-8DE1-4EF1-9B89-38AE5F0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764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A95C3-DAE5-45F3-844B-4D353DDD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76425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補 strings 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5C93C-F73D-4884-881D-D1327E36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764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補之後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5B1FD-C32A-4E04-ADC3-495B5A00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288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31333-9E6B-498D-B340-043017E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955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crypto-base64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A8A8C-B005-4FB8-ACC1-D79F7CD6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95525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DC575-672B-4F10-BD8D-B25943C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955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8CBAF-8DA5-4128-BC40-AABDDC44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9657F-D687-474B-A41F-6C0095A4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146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crypto-rot13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24830-5E03-40F7-9E36-0E521924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03B3B"/>
                </a:solidFill>
              </a:defRPr>
            </a:pPr>
            <a:r>
              <a:rPr sz="1275" b="1">
                <a:solidFill>
                  <a:srgbClr val="A03B3B"/>
                </a:solidFill>
              </a:rPr>
              <a:t>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BF07D-4343-443F-82C3-D0022FC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146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03B3B"/>
                </a:solidFill>
              </a:defRPr>
            </a:pPr>
            <a:r>
              <a:rPr sz="1275" b="1">
                <a:solidFill>
                  <a:srgbClr val="A03B3B"/>
                </a:solidFill>
              </a:rPr>
              <a:t>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9FACB-E8DA-4D44-9042-C6C0C650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EA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2A0BB-7C8C-4794-A1C0-1D83B70D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337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03B3B"/>
                </a:solidFill>
              </a:defRPr>
            </a:pPr>
            <a:r>
              <a:rPr sz="1200" b="1">
                <a:solidFill>
                  <a:srgbClr val="A03B3B"/>
                </a:solidFill>
              </a:rPr>
              <a:t>forensics-grep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2C426-F6F4-4A27-981B-860A947D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33725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03B3B"/>
                </a:solidFill>
              </a:defRPr>
            </a:pPr>
            <a:r>
              <a:rPr sz="1275" b="1">
                <a:solidFill>
                  <a:srgbClr val="A03B3B"/>
                </a:solidFill>
              </a:rPr>
              <a:t>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54C84-82DB-431F-9EB3-DE6DD37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337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6F24B-0CFD-4782-A68A-39D7E133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861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8763E-D966-4B82-A9D2-EF95AF8A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528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misc-hidden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182B5-3E1A-4B13-B560-77F39B6D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52825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8FF5EB-17C7-4CF9-8D44-3A7B6A82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528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35BB3-6F2D-4D34-94AB-95593B19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616E5E-22E5-4FF8-95FF-B21D59C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719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rev-python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C861D-FA9D-42B7-8A69-1CD20094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71925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4C844-65EA-4FFF-B884-3795B03D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719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DCE48-6C56-4F9F-9E5D-5AA20F07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706249-E4E4-4A73-B08F-52803C13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9102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833"/>
                </a:solidFill>
              </a:defRPr>
            </a:pPr>
            <a:r>
              <a:rPr sz="1200" b="1">
                <a:solidFill>
                  <a:srgbClr val="202833"/>
                </a:solidFill>
              </a:rPr>
              <a:t>總分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F285FB-3967-4E1C-B2B9-F8B7CB1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91025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3 / 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0E6BC5-74FC-43EC-AEDE-75FD77B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910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4 / 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755E7D-6EAC-42EE-9995-D091804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33550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現象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1C646E-24C0-4D49-9D56-5CEA6EC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833"/>
                </a:solidFill>
              </a:defRPr>
            </a:pPr>
            <a:r>
              <a:rPr sz="1425" b="0">
                <a:solidFill>
                  <a:srgbClr val="202833"/>
                </a:solidFill>
              </a:rPr>
              <a:t>forensics 題一直解不出來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56D127-07A7-48A3-B798-7C91312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145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3EAADB-4AEC-43A4-9E8F-99CD2C62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以為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6A683C-EE6C-4005-B309-2CD8ABD1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336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833"/>
                </a:solidFill>
              </a:defRPr>
            </a:pPr>
            <a:r>
              <a:rPr sz="1425" b="0">
                <a:solidFill>
                  <a:srgbClr val="202833"/>
                </a:solidFill>
              </a:rPr>
              <a:t>模型 forensics 能力弱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B349AE-61A9-4D43-8474-E9845B22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3370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08955E-A005-4623-B6F2-08CECA7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1850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EA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03B3B"/>
                </a:solidFill>
              </a:defRPr>
            </a:pPr>
            <a:r>
              <a:rPr sz="1200" b="1">
                <a:solidFill>
                  <a:srgbClr val="A03B3B"/>
                </a:solidFill>
              </a:rPr>
              <a:t>真因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0C6D25-8D38-4610-B906-597E994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03B3B"/>
                </a:solidFill>
              </a:defRPr>
            </a:pPr>
            <a:r>
              <a:rPr sz="1425" b="1">
                <a:solidFill>
                  <a:srgbClr val="A03B3B"/>
                </a:solidFill>
              </a:rPr>
              <a:t>容器根本沒有 strings 指令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55933C-D68B-4928-95C4-1E05C4E6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545F3E-7591-4187-9456-EE9C7E07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91000"/>
            <a:ext cx="723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B5EA0"/>
                </a:solidFill>
              </a:defRPr>
            </a:pPr>
            <a:r>
              <a:rPr sz="1200" b="1">
                <a:solidFill>
                  <a:srgbClr val="3B5EA0"/>
                </a:solidFill>
              </a:rPr>
              <a:t>教訓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3C996E-0311-491F-9FD1-075ED7B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5EA0"/>
                </a:solidFill>
              </a:defRPr>
            </a:pPr>
            <a:r>
              <a:rPr sz="1725" b="1">
                <a:solidFill>
                  <a:srgbClr val="3B5EA0"/>
                </a:solidFill>
              </a:rPr>
              <a:t>模型沒變；變的是環境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59946F-B333-4785-96B8-3DF21A53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同一個道理的另一面：組態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CA07E0-CB22-4856-BC0C-83FEE6CB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A5B6BA-F102-4699-BD81-CD409EA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4292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F70"/>
                </a:solidFill>
              </a:defRPr>
            </a:pPr>
            <a:r>
              <a:rPr sz="1200" b="1">
                <a:solidFill>
                  <a:srgbClr val="263F70"/>
                </a:solidFill>
              </a:rPr>
              <a:t>--no-parallel-tool-calls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7E4A77-86B8-4CE6-9F58-C459DD65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33"/>
                </a:solidFill>
              </a:defRPr>
            </a:pPr>
            <a:r>
              <a:rPr sz="1275" b="0">
                <a:solidFill>
                  <a:srgbClr val="202833"/>
                </a:solidFill>
              </a:rPr>
              <a:t>不設 → gateway 400 → 整題記 error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074E00-F303-44F6-A755-F0746024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99B22A-FBA7-4E84-A023-AD06446B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578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F70"/>
                </a:solidFill>
              </a:defRPr>
            </a:pPr>
            <a:r>
              <a:rPr sz="1200" b="1">
                <a:solidFill>
                  <a:srgbClr val="263F70"/>
                </a:solidFill>
              </a:rPr>
              <a:t>--message-limit 50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36C121-5DAF-42E2-93D9-68172CBF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57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F70"/>
                </a:solidFill>
              </a:defRPr>
            </a:pPr>
            <a:r>
              <a:rPr sz="1275" b="1">
                <a:solidFill>
                  <a:srgbClr val="263F70"/>
                </a:solidFill>
              </a:rPr>
              <a:t>設 30 → 8B 六題有五題撞上限 → 量到預算，不是能力</a:t>
            </a:r>
          </a:p>
        </p:txBody>
      </p:sp>
    </p:spTree>
    <p:extLst>
      <p:ext uri="{BB962C8B-B14F-4D97-AF65-F5344CB8AC3E}">
        <p14:creationId xmlns:p14="http://schemas.microsoft.com/office/powerpoint/2010/main" val="5054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0E28C-D5A4-4544-A1CC-D270B1E7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D1B66-F140-4E52-B7F8-302C684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1869F-7591-42D6-B7A8-4A2940D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3FBEB55-20C0-4FCB-877C-516621F0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雷 ②｜基礎設施只懲罰特定模型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3805B-DE61-483D-99E4-59CBF5BA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C265E-D1BB-433C-B395-9AA2CACB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F55F2-3DDE-4F74-BE73-DCF2EC0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5DBF-50C7-4FCC-BE49-F6125432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735CA-22BE-4A23-9D54-411F9C9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EA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03B3B"/>
                </a:solidFill>
              </a:defRPr>
            </a:pPr>
            <a:r>
              <a:rPr sz="1050" b="1">
                <a:solidFill>
                  <a:srgbClr val="A03B3B"/>
                </a:solidFill>
              </a:rPr>
              <a:t>504 次數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C7B45-B56F-42D5-BD78-5CB6AD7A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62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833"/>
                </a:solidFill>
              </a:defRPr>
            </a:pPr>
            <a:r>
              <a:rPr sz="1500" b="1">
                <a:solidFill>
                  <a:srgbClr val="202833"/>
                </a:solidFill>
              </a:rPr>
              <a:t>gateway timeout 分佈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590550" y="1790700"/>
          <a:ext xmlns:a="http://schemas.openxmlformats.org/drawingml/2006/main" cx="5238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7d6b415134a6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7B8E9-D5E4-42E5-BE1C-AB65D516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47800"/>
            <a:ext cx="45243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EA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03B3B"/>
                </a:solidFill>
              </a:defRPr>
            </a:pPr>
            <a:r>
              <a:rPr sz="1275" b="1">
                <a:solidFill>
                  <a:srgbClr val="A03B3B"/>
                </a:solidFill>
              </a:rPr>
              <a:t>gemma-12B：單次最高 14.3k token／283 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6D9B1-4FF2-493D-9D19-FA54136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063AF-2346-478D-B67A-D1457D9D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833"/>
                </a:solidFill>
              </a:defRPr>
            </a:pPr>
            <a:r>
              <a:rPr sz="1425" b="1">
                <a:solidFill>
                  <a:srgbClr val="202833"/>
                </a:solidFill>
              </a:rPr>
              <a:t>單次生成又長又慢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22480-DE6F-4F72-90EB-FB6BDC00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717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gemma 明顯是另一個量級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E29CC-24F3-4980-BF12-528BE52B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4330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A7C83-9791-4548-BFC7-4571652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833"/>
                </a:solidFill>
              </a:defRPr>
            </a:pPr>
            <a:r>
              <a:rPr sz="1425" b="1">
                <a:solidFill>
                  <a:srgbClr val="202833"/>
                </a:solidFill>
              </a:rPr>
              <a:t>撞到反向代理逾時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044D8-8365-4EDC-9867-C97AFCE9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480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504 Gateway Time-out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9B603-04BF-40A9-8019-06846F5F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1960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C1A32-A493-49A1-AA1C-7EF0665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004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833"/>
                </a:solidFill>
              </a:defRPr>
            </a:pPr>
            <a:r>
              <a:rPr sz="1425" b="1">
                <a:solidFill>
                  <a:srgbClr val="202833"/>
                </a:solidFill>
              </a:rPr>
              <a:t>重試也逾時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F7913-4338-420F-9CBB-269EDDE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243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最後被 time-limit 砍掉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80983-B1C4-449C-899D-85FDC31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03B3B"/>
                </a:solidFill>
              </a:defRPr>
            </a:pPr>
            <a:r>
              <a:rPr sz="1650" b="1">
                <a:solidFill>
                  <a:srgbClr val="A03B3B"/>
                </a:solidFill>
              </a:rPr>
              <a:t>0 次生成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FA095-06F7-4164-BC60-8A2A1EFB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03B3B"/>
                </a:solidFill>
              </a:defRPr>
            </a:pPr>
            <a:r>
              <a:rPr sz="1200" b="1">
                <a:solidFill>
                  <a:srgbClr val="A03B3B"/>
                </a:solidFill>
              </a:rPr>
              <a:t>模型連第一句話都沒說出口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5937B-BA13-435F-93C8-B7BE88BB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048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CF4BA-99A2-4EA2-934F-803B8A4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03B3B"/>
                </a:solidFill>
              </a:defRPr>
            </a:pPr>
            <a:r>
              <a:rPr sz="2025" b="1">
                <a:solidFill>
                  <a:srgbClr val="A03B3B"/>
                </a:solidFill>
              </a:rPr>
              <a:t>這是跨模型比較的偏誤源，不是能力差異</a:t>
            </a:r>
          </a:p>
        </p:txBody>
      </p:sp>
    </p:spTree>
    <p:extLst>
      <p:ext uri="{BB962C8B-B14F-4D97-AF65-F5344CB8AC3E}">
        <p14:creationId xmlns:p14="http://schemas.microsoft.com/office/powerpoint/2010/main" val="447450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C0CFE-DF8D-4644-9797-A094631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DF0DD-8303-4995-A9F5-473FB884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CB232-CCFD-48A1-98CE-A0E2E4B2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3C425BE-80C9-44C8-A92C-4F2DF58F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我這段的結論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572FE-1AF4-483E-A827-5D6A6ABA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608C2-EE22-4491-9EE8-9B09290C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63823-0C89-4E8E-B639-F52357CD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89D30-0F81-49ED-A618-4220A48E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EA2F5-A442-42BE-B089-CE03DE0F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66850"/>
            <a:ext cx="1190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5EA0"/>
                </a:solidFill>
              </a:defRPr>
            </a:pPr>
            <a:r>
              <a:rPr sz="1050" b="1">
                <a:solidFill>
                  <a:srgbClr val="3B5EA0"/>
                </a:solidFill>
              </a:rPr>
              <a:t>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28274-3A72-4C24-B804-1F786168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866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833"/>
                </a:solidFill>
              </a:defRPr>
            </a:pPr>
            <a:r>
              <a:rPr sz="3150" b="1">
                <a:solidFill>
                  <a:srgbClr val="202833"/>
                </a:solidFill>
              </a:rPr>
              <a:t>分數同時被</a:t>
            </a:r>
          </a:p>
          <a:p xmlns:a="http://schemas.openxmlformats.org/drawingml/2006/main">
            <a:pPr algn="l">
              <a:defRPr sz="3150" b="1">
                <a:solidFill>
                  <a:srgbClr val="202833"/>
                </a:solidFill>
              </a:defRPr>
            </a:pPr>
            <a:r>
              <a:rPr sz="3150" b="1">
                <a:solidFill>
                  <a:srgbClr val="202833"/>
                </a:solidFill>
              </a:rPr>
              <a:t>「能力、環境、預算」決定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C116E-12C3-4289-95DC-CEC62F2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862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CCF21-226C-4E36-AA62-8332D07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B5EA0"/>
                </a:solidFill>
              </a:defRPr>
            </a:pPr>
            <a:r>
              <a:rPr sz="2550" b="1">
                <a:solidFill>
                  <a:srgbClr val="3B5EA0"/>
                </a:solidFill>
              </a:rPr>
              <a:t>後兩者若不主動隔離，</a:t>
            </a:r>
          </a:p>
          <a:p xmlns:a="http://schemas.openxmlformats.org/drawingml/2006/main">
            <a:pPr algn="l">
              <a:defRPr sz="2550" b="1">
                <a:solidFill>
                  <a:srgbClr val="3B5EA0"/>
                </a:solidFill>
              </a:defRPr>
            </a:pPr>
            <a:r>
              <a:rPr sz="2550" b="1">
                <a:solidFill>
                  <a:srgbClr val="3B5EA0"/>
                </a:solidFill>
              </a:rPr>
              <a:t>就會被整包誤讀成能力。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E930A-061E-4FE9-B616-9412B3C0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8286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A4FA1-06F7-4244-ACA9-B1DBE9BA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340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下一個問題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02C9C-5DAA-4954-AEFC-3526A9A3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67325"/>
            <a:ext cx="619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沒解出來，是它不會，還是我們沒讓它有機會？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43D52-284C-4EA6-9E94-29B0D4E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388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5EA0"/>
                </a:solidFill>
              </a:defRPr>
            </a:pPr>
            <a:r>
              <a:rPr sz="1275" b="1">
                <a:solidFill>
                  <a:srgbClr val="3B5EA0"/>
                </a:solidFill>
              </a:rPr>
              <a:t>→ 判別規則與詞向量比對，由下一位組員接著說明</a:t>
            </a:r>
          </a:p>
        </p:txBody>
      </p:sp>
    </p:spTree>
    <p:extLst>
      <p:ext uri="{BB962C8B-B14F-4D97-AF65-F5344CB8AC3E}">
        <p14:creationId xmlns:p14="http://schemas.microsoft.com/office/powerpoint/2010/main" val="1307321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EF7497-6774-4C2D-8684-C3BC33F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22D7A-AADF-4F8D-AF06-2E2BCC4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766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3A37B-67C3-447A-A633-27DE95FC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286000" cy="20955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F2C9BFF-A4BA-4D3C-9828-E338FD9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833"/>
                </a:solidFill>
              </a:defRPr>
            </a:pPr>
            <a:r>
              <a:rPr sz="2850" b="1">
                <a:solidFill>
                  <a:srgbClr val="202833"/>
                </a:solidFill>
              </a:rPr>
              <a:t>備用｜其他踩過的雷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2CBE9-EC83-43A1-B6FD-18B3306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71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9B2E8-2FC0-411F-9125-2EA488D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E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9029F-21F6-4397-A559-4660789A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38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AIS3 2026 · AI 組專題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C426E-AB5C-4033-BBC2-180E16D3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AE9E7-B2B7-4EDE-AFA2-DDD3E6D9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5EA0"/>
                </a:solidFill>
              </a:defRPr>
            </a:pPr>
            <a:r>
              <a:rPr sz="1050" b="1">
                <a:solidFill>
                  <a:srgbClr val="3B5EA0"/>
                </a:solidFill>
              </a:rPr>
              <a:t>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C2435-AAD5-4609-92A7-89CB408E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BACB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B65FF-AD84-4147-B1E0-55325D73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1447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5EA0"/>
                </a:solidFill>
              </a:defRPr>
            </a:pPr>
            <a:r>
              <a:rPr sz="1350" b="1">
                <a:solidFill>
                  <a:srgbClr val="3B5EA0"/>
                </a:solidFill>
              </a:rPr>
              <a:t>arm64 假失敗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7E5F0-539E-482C-B840-BE4BA58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476375"/>
            <a:ext cx="701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F70"/>
                </a:solidFill>
              </a:defRPr>
            </a:pPr>
            <a:r>
              <a:rPr sz="1200" b="1">
                <a:solidFill>
                  <a:srgbClr val="263F70"/>
                </a:solidFill>
              </a:rPr>
              <a:t>4 題 pwn 全滅；複查後只有 2 題是環境問題，另 2 題是真答錯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68784-09B4-48FD-BACC-68A7ECB4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C6F57-3ADC-447B-BCCE-810BDC5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intercode/12 全滅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77228-E35B-4E9B-9AD5-B69DCFE7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57425"/>
            <a:ext cx="701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沙箱斷網且無 GNFS；原解法依賴 factordb，任何模型都無法完成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913CC-6F57-481E-AEF2-1741242F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F94C6-ADD3-47B7-B24D-2C97D6E7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兩個 eval 不能併行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593F5-0A86-4E98-8ECF-F2E36235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38475"/>
            <a:ext cx="701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共享 gateway 被佔滿，後啟動評測 15 分鐘仍是 0 樣本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244B7-DD23-49E0-A773-EA3EB68A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50076-2D0E-4D90-803A-B1F28AAE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log 靜默加總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B24B2-BA4A-4181-B6C5-C64C6A26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19525"/>
            <a:ext cx="701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遞迴掃描會混入不同組態；底線目錄一律排除並印出排除數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33DAB-5D1D-439F-BA65-5E87EEC7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D40BD-95B5-497C-B15F-106019EC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3867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評分器作弊面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1129B3-6BE9-4BA8-865C-B58A2C09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00575"/>
            <a:ext cx="701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includes() 可被候選轟炸；改成 exact_flag() 的集合恰等於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E8A5D-213F-4C47-B207-722B733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87C2A-E3FE-414F-B94C-C06F9279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972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成本結構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ACF85D-F3DC-4523-AB03-D2813B78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81625"/>
            <a:ext cx="701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失敗比成功貴 4–22 倍；80.6 小時牆鐘中約 23 小時是排隊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5B75C-597E-4E69-90E1-58AF0AA7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4362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03B3B"/>
                </a:solidFill>
              </a:defRPr>
            </a:pPr>
            <a:r>
              <a:rPr sz="1425" b="1">
                <a:solidFill>
                  <a:srgbClr val="A03B3B"/>
                </a:solidFill>
              </a:rPr>
              <a:t>所有案例共同提醒：先判斷是 error、環境缺件，還是完成後答錯。</a:t>
            </a:r>
          </a:p>
        </p:txBody>
      </p:sp>
    </p:spTree>
    <p:extLst>
      <p:ext uri="{BB962C8B-B14F-4D97-AF65-F5344CB8AC3E}">
        <p14:creationId xmlns:p14="http://schemas.microsoft.com/office/powerpoint/2010/main" val="1962224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2026-07-29T17:48:58.2500000Z</dcterms:created>
  <dcterms:modified xsi:type="dcterms:W3CDTF">2026-07-29T17:48:58.2500000Z</dcterms:modified>
</coreProperties>
</file>